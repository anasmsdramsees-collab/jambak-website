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الإيرادات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00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DF4-854B-8FBB-523A9788C196}"/>
              </c:ext>
            </c:extLst>
          </c:dPt>
          <c:dPt>
            <c:idx val="1"/>
            <c:bubble3D val="0"/>
            <c:spPr>
              <a:solidFill>
                <a:srgbClr val="5A0D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F4-854B-8FBB-523A9788C196}"/>
              </c:ext>
            </c:extLst>
          </c:dPt>
          <c:dPt>
            <c:idx val="2"/>
            <c:bubble3D val="0"/>
            <c:spPr>
              <a:solidFill>
                <a:srgbClr val="FF4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F4-854B-8FBB-523A9788C196}"/>
              </c:ext>
            </c:extLst>
          </c:dPt>
          <c:dPt>
            <c:idx val="3"/>
            <c:bubble3D val="0"/>
            <c:spPr>
              <a:solidFill>
                <a:srgbClr val="FF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DF4-854B-8FBB-523A9788C19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DF4-854B-8FBB-523A9788C19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DF4-854B-8FBB-523A9788C19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DF4-854B-8FBB-523A9788C19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DF4-854B-8FBB-523A9788C19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SA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الشحن</c:v>
                </c:pt>
                <c:pt idx="1">
                  <c:v>التخزين</c:v>
                </c:pt>
                <c:pt idx="2">
                  <c:v>التحصيل</c:v>
                </c:pt>
                <c:pt idx="3">
                  <c:v>Pro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20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DF4-854B-8FBB-523A9788C1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033"/>
              </a:solidFill>
            </a:defRPr>
          </a:pPr>
          <a:endParaRPr lang="en-SA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32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3474720"/>
            <a:ext cx="2560320" cy="16687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377440"/>
            <a:ext cx="1828800" cy="2766060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74320"/>
            <a:ext cx="2926080" cy="2926080"/>
          </a:xfrm>
          <a:prstGeom prst="ellipse">
            <a:avLst/>
          </a:prstGeom>
          <a:solidFill>
            <a:srgbClr val="5A0DB5">
              <a:alpha val="30000"/>
            </a:srgbClr>
          </a:solidFill>
          <a:ln w="12700">
            <a:solidFill>
              <a:srgbClr val="5A0DB5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جمبك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800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JAMBAK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194560" cy="32918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🇸🇦  المملكة العربية السعودية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dirty="0">
                <a:solidFill>
                  <a:srgbClr val="CC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الشحن الأذكى للتجارة الإلكترونية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998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توصيل في اليوم التالي · تحصيل في 24 ساعة · تتبع لحظي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0040"/>
          </a:solidFill>
          <a:ln w="12700">
            <a:solidFill>
              <a:srgbClr val="1A0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98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للمستثمرين — 2025  |  سري وخاص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754880"/>
            <a:ext cx="4297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calendly.com/anas-msd-ramsees/30min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التجارة الإلكترونية السعودي ينمو بسرعة — والشحن يتعثّر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20240" cy="3108960"/>
          </a:xfrm>
          <a:prstGeom prst="rect">
            <a:avLst/>
          </a:prstGeom>
          <a:solidFill>
            <a:srgbClr val="F8F9FC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⏳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3D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تأخير في التوصيل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2880360"/>
            <a:ext cx="548640" cy="36576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992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أغلب شركات الشحن تستغرق 3-5 أيام</a:t>
            </a:r>
            <a:endParaRPr lang="en-US" sz="1100" dirty="0"/>
          </a:p>
          <a:p>
            <a:pPr marL="0" indent="0" algn="ct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والتاجر يخسر ثقة العميل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463040"/>
            <a:ext cx="1920240" cy="3108960"/>
          </a:xfrm>
          <a:prstGeom prst="rect">
            <a:avLst/>
          </a:prstGeom>
          <a:solidFill>
            <a:srgbClr val="F8F9FC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💸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3D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تحصيل بطيء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4680" y="2880360"/>
            <a:ext cx="548640" cy="36576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9992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التجار ينتظرون 7-14 يوماً للحصول</a:t>
            </a:r>
            <a:endParaRPr lang="en-US" sz="1100" dirty="0"/>
          </a:p>
          <a:p>
            <a:pPr marL="0" indent="0" algn="ct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أموالهم من التوصيل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463040"/>
            <a:ext cx="1920240" cy="3108960"/>
          </a:xfrm>
          <a:prstGeom prst="rect">
            <a:avLst/>
          </a:prstGeom>
          <a:solidFill>
            <a:srgbClr val="F8F9FC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🌫️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3D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الشفافية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57800" y="2880360"/>
            <a:ext cx="548640" cy="36576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9992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تتبع لحظي — التاجر والعميل</a:t>
            </a:r>
            <a:endParaRPr lang="en-US" sz="1100" dirty="0"/>
          </a:p>
          <a:p>
            <a:pPr marL="0" indent="0" algn="ct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يعرفان أين الشحنة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1463040"/>
            <a:ext cx="1920240" cy="3108960"/>
          </a:xfrm>
          <a:prstGeom prst="rect">
            <a:avLst/>
          </a:prstGeom>
          <a:solidFill>
            <a:srgbClr val="F3EAFF"/>
          </a:solidFill>
          <a:ln w="19050">
            <a:solidFill>
              <a:srgbClr val="C9A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675120" y="2331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3D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معدل إرجاع مرتفع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60920" y="2880360"/>
            <a:ext cx="548640" cy="36576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999232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 من الطلبات تُرجَع بسبب</a:t>
            </a:r>
            <a:endParaRPr lang="en-US" sz="1100" dirty="0"/>
          </a:p>
          <a:p>
            <a:pPr marL="0" indent="0" algn="ct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ضعف تجربة التوصيل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3EAFF"/>
          </a:solidFill>
          <a:ln w="12700">
            <a:solidFill>
              <a:srgbClr val="F3E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3D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التجارة الإلكترونية السعودي: 20 مليار دولار (2024) · نمو 30% سنوياً · 70% من السكان تحت 35 عاماً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0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جمبك — منصة الشحن الذكية للتاجر السعودي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14630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ساعة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1214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C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توصيل في اليوم التالي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463040"/>
            <a:ext cx="54864" cy="14630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276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2336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ساعة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23360" y="21214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C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تحصيل الأموال السريع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463040"/>
            <a:ext cx="54864" cy="14630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6276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لحظي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21214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C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تتبع حي للشحنة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54680"/>
            <a:ext cx="54864" cy="14630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19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88720" y="3291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88720" y="38130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C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 مع Salla &amp; Zid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315468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154680"/>
            <a:ext cx="54864" cy="14630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319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023360" y="3291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مستودع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023360" y="38130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C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تخزين ذكي بالرياض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315468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3154680"/>
            <a:ext cx="54864" cy="14630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319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858000" y="3291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58000" y="38130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C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تحكم موبايل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السوق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فرصة استثمارية ضخمة في سوق ينمو بسرعة قياسية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474720" cy="3474720"/>
          </a:xfrm>
          <a:prstGeom prst="ellipse">
            <a:avLst/>
          </a:prstGeom>
          <a:solidFill>
            <a:srgbClr val="F3EAFF"/>
          </a:solidFill>
          <a:ln w="19050">
            <a:solidFill>
              <a:srgbClr val="D8B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2468880" cy="2468880"/>
          </a:xfrm>
          <a:prstGeom prst="ellipse">
            <a:avLst/>
          </a:prstGeom>
          <a:solidFill>
            <a:srgbClr val="E0CEFF"/>
          </a:solidFill>
          <a:ln w="19050">
            <a:solidFill>
              <a:srgbClr val="B79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286000"/>
            <a:ext cx="1371600" cy="137160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618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D007A"/>
                </a:solidFill>
              </a:rPr>
              <a:t>TAM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A0DB5"/>
                </a:solidFill>
              </a:rPr>
              <a:t>SAM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23317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298448"/>
            <a:ext cx="4480560" cy="100584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298448"/>
            <a:ext cx="64008" cy="1005840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A1033"/>
                </a:solidFill>
              </a:rPr>
              <a:t>TAM — السوق الكلي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2360" y="135331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D007A"/>
                </a:solidFill>
              </a:rPr>
              <a:t>$20B+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</a:rPr>
              <a:t>سوق الشحن والتجارة الإلكترونية بالسعودية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487168"/>
            <a:ext cx="4480560" cy="100584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2487168"/>
            <a:ext cx="64008" cy="1005840"/>
          </a:xfrm>
          <a:prstGeom prst="rect">
            <a:avLst/>
          </a:prstGeom>
          <a:solidFill>
            <a:srgbClr val="5A0DB5"/>
          </a:solidFill>
          <a:ln w="12700">
            <a:solidFill>
              <a:srgbClr val="5A0D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A1033"/>
                </a:solidFill>
              </a:rPr>
              <a:t>SAM — السوق المستهدف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2360" y="25420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0DB5"/>
                </a:solidFill>
              </a:rPr>
              <a:t>$4.5B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</a:rPr>
              <a:t>شحن التجارة الإلكترونية للـ SME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3675888"/>
            <a:ext cx="4480560" cy="100584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3675888"/>
            <a:ext cx="64008" cy="10058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749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A1033"/>
                </a:solidFill>
              </a:rPr>
              <a:t>SOM — حصتنا المستهدفة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52360" y="37307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4500"/>
                </a:solidFill>
              </a:rPr>
              <a:t>$120M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4206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</a:rPr>
              <a:t>خلال 3 سنوات (3% من SAM)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0040"/>
          </a:solidFill>
          <a:ln w="12700">
            <a:solidFill>
              <a:srgbClr val="1A0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رؤية 2030 تستهدف مضاعفة مساهمة التجارة الإلكترونية في الناتج المحلي — الشحن هو المحرّك الأساسي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0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الإنجازات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حقيقية في سوق جديد — والنمو مستمر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32004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🛒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+200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868680" y="3044952"/>
            <a:ext cx="914400" cy="4572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تاجر نشط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6210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998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منذ الإطلاق في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325880"/>
            <a:ext cx="1920240" cy="32004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87168" y="22128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+8K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2990088" y="3044952"/>
            <a:ext cx="914400" cy="4572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شحنة مكتملة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87168" y="36210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998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بنسبة نجاح 96%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1325880"/>
            <a:ext cx="1920240" cy="32004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💳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608576" y="22128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24h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5111496" y="3044952"/>
            <a:ext cx="914400" cy="4572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تحصيل الأموال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08576" y="36210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998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الأسرع في السوق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9984" y="1325880"/>
            <a:ext cx="1920240" cy="32004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🚚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729984" y="22128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+45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7232904" y="3044952"/>
            <a:ext cx="914400" cy="4572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9984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مندوب توصيل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9984" y="36210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998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5 مناطق رئيسية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0040"/>
          </a:solidFill>
          <a:ln w="12700">
            <a:solidFill>
              <a:srgbClr val="1A0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F4500"/>
                </a:solidFill>
              </a:rPr>
              <a:t>📈 نمو 7× في الشحنات خلال 6 أشهر · من 400 → 2,900 شحنة/شهر · الهدف 2025: 5,000 شحنة/شهر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FF4500"/>
                </a:solidFill>
              </a:rPr>
              <a:t>نموذج العمل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مصادر إيراد متعددة ومتنامية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88720"/>
          <a:ext cx="3657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206240" y="1188720"/>
            <a:ext cx="4663440" cy="804672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206240" y="1188720"/>
            <a:ext cx="64008" cy="804672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43400" y="12984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00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2578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033"/>
                </a:solidFill>
              </a:rPr>
              <a:t>رسوم الشحن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57800" y="16093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</a:rPr>
              <a:t>رسوم ثابتة لكل شحنة · 18-35 ريال حسب المنطقة والوزن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06240" y="2103120"/>
            <a:ext cx="4663440" cy="804672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2103120"/>
            <a:ext cx="64008" cy="804672"/>
          </a:xfrm>
          <a:prstGeom prst="rect">
            <a:avLst/>
          </a:prstGeom>
          <a:solidFill>
            <a:srgbClr val="5A0DB5"/>
          </a:solidFill>
          <a:ln w="12700">
            <a:solidFill>
              <a:srgbClr val="5A0D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22128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0D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2578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033"/>
                </a:solidFill>
              </a:rPr>
              <a:t>رسوم التخزين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57800" y="25237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</a:rPr>
              <a:t>اشتراك شهري للتخزين وإدارة المخزون بالمستودع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06240" y="3017520"/>
            <a:ext cx="4663440" cy="804672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06240" y="3017520"/>
            <a:ext cx="64008" cy="80467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3127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2578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033"/>
                </a:solidFill>
              </a:rPr>
              <a:t>رسوم التحصيل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257800" y="3438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</a:rPr>
              <a:t>نسبة 1-2% على مبالغ الدفع عند الاستلام المحصّلة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06240" y="3931920"/>
            <a:ext cx="4663440" cy="804672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06240" y="3931920"/>
            <a:ext cx="64008" cy="80467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43400" y="40416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525780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033"/>
                </a:solidFill>
              </a:rPr>
              <a:t>الاشتراكات Pro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257800" y="4352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</a:rPr>
              <a:t>باقة متقدمة للمتاجر الكبيرة مع API مخصص ومدير حساب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3EAFF"/>
          </a:solidFill>
          <a:ln w="12700">
            <a:solidFill>
              <a:srgbClr val="F3EA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3D007A"/>
                </a:solidFill>
              </a:rPr>
              <a:t>متوسط الإيراد لكل شحنة: 22 ريال · تكلفة التوصيل: 14 ريال · هامش الربح: 36%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FF4500"/>
                </a:solidFill>
              </a:rPr>
              <a:t>المنافسة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جمبك يتصدّر في التجارة الإلكترونية للـ SME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36776" y="1261872"/>
            <a:ext cx="1170432" cy="548640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6776" y="12618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توصيل</a:t>
            </a:r>
            <a:endParaRPr lang="en-US" sz="1000" dirty="0"/>
          </a:p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اليوم التالي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25496" y="1261872"/>
            <a:ext cx="1170432" cy="548640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25496" y="12618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تحصيل</a:t>
            </a:r>
            <a:endParaRPr lang="en-US" sz="1000" dirty="0"/>
          </a:p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24 ساعة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14216" y="1261872"/>
            <a:ext cx="1170432" cy="548640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14216" y="12618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تتبع</a:t>
            </a:r>
            <a:endParaRPr lang="en-US" sz="1000" dirty="0"/>
          </a:p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لحظي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02936" y="1261872"/>
            <a:ext cx="1170432" cy="548640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2936" y="12618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تكامل</a:t>
            </a:r>
            <a:endParaRPr lang="en-US" sz="1000" dirty="0"/>
          </a:p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91656" y="1261872"/>
            <a:ext cx="1170432" cy="548640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2618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تخزين</a:t>
            </a:r>
            <a:endParaRPr lang="en-US" sz="1000" dirty="0"/>
          </a:p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ذكي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0376" y="1261872"/>
            <a:ext cx="1170432" cy="548640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0376" y="126187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دعم</a:t>
            </a:r>
            <a:endParaRPr lang="en-US" sz="1000" dirty="0"/>
          </a:p>
          <a:p>
            <a:pPr marL="0" indent="0" algn="ctr" rtl="1">
              <a:buNone/>
            </a:pPr>
            <a:r>
              <a:rPr lang="en-US" sz="1000" b="1" dirty="0">
                <a:solidFill>
                  <a:srgbClr val="FFFFFF"/>
                </a:solidFill>
              </a:rPr>
              <a:t>SME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1874520"/>
            <a:ext cx="8741664" cy="512064"/>
          </a:xfrm>
          <a:prstGeom prst="rect">
            <a:avLst/>
          </a:prstGeom>
          <a:solidFill>
            <a:srgbClr val="F3E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1874520"/>
            <a:ext cx="64008" cy="51206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187452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3D007A"/>
                </a:solidFill>
              </a:rPr>
              <a:t>جمبك 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36776" y="187452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25496" y="187452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14216" y="187452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02936" y="187452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91656" y="187452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80376" y="187452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1168" y="2423160"/>
            <a:ext cx="874166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42316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033"/>
                </a:solidFill>
              </a:rPr>
              <a:t>أرامكس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36776" y="242316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825496" y="242316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14216" y="242316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02936" y="242316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91656" y="242316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80376" y="242316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1168" y="2971800"/>
            <a:ext cx="8741664" cy="512064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297180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033"/>
                </a:solidFill>
              </a:rPr>
              <a:t>SMSA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636776" y="297180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825496" y="297180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014216" y="297180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02936" y="297180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91656" y="297180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80376" y="297180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01168" y="3520440"/>
            <a:ext cx="874166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352044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033"/>
                </a:solidFill>
              </a:rPr>
              <a:t>Fetchr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636776" y="352044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825496" y="352044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014216" y="352044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202936" y="352044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91656" y="352044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80376" y="352044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01168" y="4069080"/>
            <a:ext cx="8741664" cy="512064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" y="406908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033"/>
                </a:solidFill>
              </a:rPr>
              <a:t>Naqel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636776" y="406908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2825496" y="406908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014216" y="406908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202936" y="406908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91656" y="406908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580376" y="4069080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3EAFF"/>
          </a:solidFill>
          <a:ln w="12700">
            <a:solidFill>
              <a:srgbClr val="F3EA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en-US" sz="1100" dirty="0">
                <a:solidFill>
                  <a:srgbClr val="000000"/>
                </a:solidFill>
              </a:rPr>
              <a:t>✅</a:t>
            </a:r>
            <a:r>
              <a:rPr lang="en-US" sz="1100" b="1" dirty="0" err="1">
                <a:solidFill>
                  <a:srgbClr val="3D007A"/>
                </a:solidFill>
              </a:rPr>
              <a:t>متوفر</a:t>
            </a:r>
            <a:r>
              <a:rPr lang="ar-SA" sz="1100" b="1" dirty="0">
                <a:solidFill>
                  <a:srgbClr val="3D007A"/>
                </a:solidFill>
              </a:rPr>
              <a:t>. </a:t>
            </a:r>
            <a:r>
              <a:rPr lang="en-US" sz="1100" dirty="0">
                <a:solidFill>
                  <a:srgbClr val="000000"/>
                </a:solidFill>
              </a:rPr>
              <a:t>⚠️ </a:t>
            </a:r>
            <a:r>
              <a:rPr lang="en-US" sz="1100" b="1" dirty="0" err="1">
                <a:solidFill>
                  <a:srgbClr val="3D007A"/>
                </a:solidFill>
              </a:rPr>
              <a:t>جزئي</a:t>
            </a:r>
            <a:r>
              <a:rPr lang="ar-SA" sz="1100" b="1" dirty="0">
                <a:solidFill>
                  <a:srgbClr val="3D007A"/>
                </a:solidFill>
              </a:rPr>
              <a:t>. </a:t>
            </a:r>
            <a:r>
              <a:rPr lang="en-US" sz="1100" dirty="0">
                <a:solidFill>
                  <a:srgbClr val="000000"/>
                </a:solidFill>
              </a:rPr>
              <a:t>❌ </a:t>
            </a:r>
            <a:r>
              <a:rPr lang="en-US" sz="1100" b="1" dirty="0" err="1">
                <a:solidFill>
                  <a:srgbClr val="3D007A"/>
                </a:solidFill>
              </a:rPr>
              <a:t>غير</a:t>
            </a:r>
            <a:r>
              <a:rPr lang="en-US" sz="1100" b="1" dirty="0">
                <a:solidFill>
                  <a:srgbClr val="3D007A"/>
                </a:solidFill>
              </a:rPr>
              <a:t> </a:t>
            </a:r>
            <a:r>
              <a:rPr lang="en-US" sz="1100" b="1" dirty="0" err="1">
                <a:solidFill>
                  <a:srgbClr val="3D007A"/>
                </a:solidFill>
              </a:rPr>
              <a:t>متوفر</a:t>
            </a:r>
            <a:r>
              <a:rPr lang="ar-SA" sz="1100" b="1" dirty="0">
                <a:solidFill>
                  <a:srgbClr val="3D007A"/>
                </a:solidFill>
              </a:rPr>
              <a:t>.  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0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FF4500"/>
                </a:solidFill>
              </a:rPr>
              <a:t>خطة النمو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الرياض إلى المملكة كاملة — في 36 شهراً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487168"/>
            <a:ext cx="8229600" cy="36576"/>
          </a:xfrm>
          <a:prstGeom prst="rect">
            <a:avLst/>
          </a:prstGeom>
          <a:solidFill>
            <a:srgbClr val="5A0DB5"/>
          </a:solidFill>
          <a:ln w="12700">
            <a:solidFill>
              <a:srgbClr val="5A0D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2359152"/>
            <a:ext cx="256032" cy="256032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536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4500"/>
                </a:solidFill>
              </a:rPr>
              <a:t>الآن</a:t>
            </a:r>
            <a:endParaRPr lang="en-US" sz="1100" dirty="0"/>
          </a:p>
          <a:p>
            <a:pPr marL="0" indent="0" algn="ctr" rtl="1">
              <a:buNone/>
            </a:pPr>
            <a:r>
              <a:rPr lang="en-US" sz="1100" b="1" dirty="0">
                <a:solidFill>
                  <a:srgbClr val="FF4500"/>
                </a:solidFill>
              </a:rPr>
              <a:t>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743200"/>
            <a:ext cx="228600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450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743200"/>
            <a:ext cx="54864" cy="192024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8163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4500"/>
                </a:solidFill>
              </a:rPr>
              <a:t>الإطلاق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الرياض + جدة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7124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200 تاجر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133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8K شحنة/شهر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07792" y="2359152"/>
            <a:ext cx="256032" cy="256032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536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A500"/>
                </a:solidFill>
              </a:rPr>
              <a:t>Q3</a:t>
            </a:r>
            <a:endParaRPr lang="en-US" sz="1100" dirty="0"/>
          </a:p>
          <a:p>
            <a:pPr marL="0" indent="0" algn="ctr" rtl="1">
              <a:buNone/>
            </a:pPr>
            <a:r>
              <a:rPr lang="en-US" sz="1100" b="1" dirty="0">
                <a:solidFill>
                  <a:srgbClr val="FFA500"/>
                </a:solidFill>
              </a:rPr>
              <a:t>2025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80360" y="2743200"/>
            <a:ext cx="228600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A50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2743200"/>
            <a:ext cx="54864" cy="19202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28163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A500"/>
                </a:solidFill>
              </a:rPr>
              <a:t>التوسع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7180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5 مناطق رئيسية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37124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1000 تاجر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71800" y="4133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50K شحنة/شهر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68112" y="2359152"/>
            <a:ext cx="256032" cy="25603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536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00D4AA"/>
                </a:solidFill>
              </a:rPr>
              <a:t>Q1</a:t>
            </a:r>
            <a:endParaRPr lang="en-US" sz="1100" dirty="0"/>
          </a:p>
          <a:p>
            <a:pPr marL="0" indent="0" algn="ctr" rtl="1">
              <a:buNone/>
            </a:pPr>
            <a:r>
              <a:rPr lang="en-US" sz="1100" b="1" dirty="0">
                <a:solidFill>
                  <a:srgbClr val="00D4AA"/>
                </a:solidFill>
              </a:rPr>
              <a:t>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0680" y="2743200"/>
            <a:ext cx="228600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0680" y="2743200"/>
            <a:ext cx="54864" cy="1920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8163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0D4AA"/>
                </a:solidFill>
              </a:rPr>
              <a:t>المملكة كاملة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13 منطقة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37124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5000 تاجر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32120" y="4133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200K شحنة/شهر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88352" y="2359152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1536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</a:rPr>
              <a:t>2027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60920" y="2743200"/>
            <a:ext cx="1508760" cy="1920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3496" y="2736054"/>
            <a:ext cx="548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28163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FFFF"/>
                </a:solidFill>
              </a:rPr>
              <a:t>الخليج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5236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UAE + Kuwait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52360" y="37124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20K تاجر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52360" y="41330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CB8E8"/>
                </a:solidFill>
              </a:rPr>
              <a:t>· 1M شحنة/شهر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FF4500"/>
                </a:solidFill>
              </a:rPr>
              <a:t>الفريق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متكامل يؤمن بأن المملكة تستحق أفضل خدمة شحن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0664" y="1261872"/>
            <a:ext cx="914400" cy="914400"/>
          </a:xfrm>
          <a:prstGeom prst="ellipse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أ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2304288"/>
            <a:ext cx="1572768" cy="251460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2304288"/>
            <a:ext cx="1572768" cy="54864"/>
          </a:xfrm>
          <a:prstGeom prst="rect">
            <a:avLst/>
          </a:prstGeom>
          <a:solidFill>
            <a:srgbClr val="3D007A"/>
          </a:solidFill>
          <a:ln w="12700">
            <a:solidFill>
              <a:srgbClr val="3D0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41401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A1033"/>
                </a:solidFill>
              </a:rPr>
              <a:t>أنس رمسيس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90779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3D007A"/>
                </a:solidFill>
              </a:rPr>
              <a:t>المؤسس &amp; CEO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9536" y="3310128"/>
            <a:ext cx="548640" cy="36576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3429000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64748B"/>
                </a:solidFill>
              </a:rPr>
              <a:t>مؤسس جمبك · رائد أعمال في التقنية واللوجستيات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50592" y="1261872"/>
            <a:ext cx="914400" cy="914400"/>
          </a:xfrm>
          <a:prstGeom prst="ellipse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50592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م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057400" y="2304288"/>
            <a:ext cx="1572768" cy="251460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57400" y="2304288"/>
            <a:ext cx="1572768" cy="54864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241401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A1033"/>
                </a:solidFill>
              </a:rPr>
              <a:t>محي الدين محمد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290779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F4500"/>
                </a:solidFill>
              </a:rPr>
              <a:t>مدير التشغيل COO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9464" y="3310128"/>
            <a:ext cx="548640" cy="36576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0552" y="3429000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64748B"/>
                </a:solidFill>
              </a:rPr>
              <a:t>خبير في إدارة سلاسل التوريد وشبكات التوزيع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60520" y="1261872"/>
            <a:ext cx="914400" cy="9144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6052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م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3767328" y="2304288"/>
            <a:ext cx="1572768" cy="251460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67328" y="2304288"/>
            <a:ext cx="1572768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241401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A1033"/>
                </a:solidFill>
              </a:rPr>
              <a:t>محمد بابكر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67328" y="290779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565C0"/>
                </a:solidFill>
              </a:rPr>
              <a:t>مدير التقنية CTO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79392" y="3310128"/>
            <a:ext cx="548640" cy="36576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3429000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64748B"/>
                </a:solidFill>
              </a:rPr>
              <a:t>مهندس برمجيات · بنى منظومة التتبع والتكاملات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70448" y="1261872"/>
            <a:ext cx="914400" cy="9144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70448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ش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5477256" y="2304288"/>
            <a:ext cx="1572768" cy="251460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77256" y="2304288"/>
            <a:ext cx="1572768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77256" y="241401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A1033"/>
                </a:solidFill>
              </a:rPr>
              <a:t>شيماء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77256" y="290779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6A1B9A"/>
                </a:solidFill>
              </a:rPr>
              <a:t>مدير خدمة العملاء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3310128"/>
            <a:ext cx="548640" cy="36576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0408" y="3429000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64748B"/>
                </a:solidFill>
              </a:rPr>
              <a:t>تقود فريق الدعم · رضا العملاء أولوية قصوى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80376" y="1261872"/>
            <a:ext cx="914400" cy="914400"/>
          </a:xfrm>
          <a:prstGeom prst="ellipse">
            <a:avLst/>
          </a:prstGeom>
          <a:solidFill>
            <a:srgbClr val="B07800"/>
          </a:solidFill>
          <a:ln w="12700">
            <a:solidFill>
              <a:srgbClr val="B07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80376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د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7187184" y="2304288"/>
            <a:ext cx="1572768" cy="251460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87184" y="2304288"/>
            <a:ext cx="1572768" cy="54864"/>
          </a:xfrm>
          <a:prstGeom prst="rect">
            <a:avLst/>
          </a:prstGeom>
          <a:solidFill>
            <a:srgbClr val="B07800"/>
          </a:solidFill>
          <a:ln w="12700">
            <a:solidFill>
              <a:srgbClr val="B078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7184" y="241401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A1033"/>
                </a:solidFill>
              </a:rPr>
              <a:t>دعاء فضل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87184" y="290779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F4500"/>
                </a:solidFill>
              </a:rPr>
              <a:t>مدير التسويق CMO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99248" y="3310128"/>
            <a:ext cx="548640" cy="36576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0336" y="3429000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64748B"/>
                </a:solidFill>
              </a:rPr>
              <a:t>تبني هوية جمبك وتنمّي قاعدة التجار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0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FF4500"/>
                </a:solidFill>
              </a:rPr>
              <a:t>الطلب الاستثماري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نبحث عن شريك استراتيجي يؤمن بمستقبل الشحن في السعودية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0" y="1325880"/>
            <a:ext cx="4572000" cy="146304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FF4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3898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4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2,000,000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86000" y="2267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9980C4"/>
                </a:solidFill>
              </a:rPr>
              <a:t>جولة بذور — Series Seed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8229600" cy="38404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44368"/>
            <a:ext cx="3291840" cy="384048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9443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</a:rPr>
              <a:t>🚚  توسع الأسطول والمناديب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294436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4500"/>
                </a:solidFill>
              </a:rPr>
              <a:t>40%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19856"/>
            <a:ext cx="8229600" cy="38404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419856"/>
            <a:ext cx="2468880" cy="384048"/>
          </a:xfrm>
          <a:prstGeom prst="rect">
            <a:avLst/>
          </a:prstGeom>
          <a:solidFill>
            <a:srgbClr val="FF4500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4198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</a:rPr>
              <a:t>⚙️  بنية تحتية تقنية وتطوير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34198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4500"/>
                </a:solidFill>
              </a:rPr>
              <a:t>30%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8229600" cy="38404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95344"/>
            <a:ext cx="1645920" cy="384048"/>
          </a:xfrm>
          <a:prstGeom prst="rect">
            <a:avLst/>
          </a:prstGeom>
          <a:solidFill>
            <a:srgbClr val="FF4500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8953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</a:rPr>
              <a:t>📣  تسويق واكتساب تجار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38953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4500"/>
                </a:solidFill>
              </a:rPr>
              <a:t>20%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70832"/>
            <a:ext cx="8229600" cy="38404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70832"/>
            <a:ext cx="822960" cy="384048"/>
          </a:xfrm>
          <a:prstGeom prst="rect">
            <a:avLst/>
          </a:prstGeom>
          <a:solidFill>
            <a:srgbClr val="FF4500">
              <a:alpha val="5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3708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FFFFF"/>
                </a:solidFill>
              </a:rPr>
              <a:t>🏭  مستودع الرياض + عمليات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43708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4500"/>
                </a:solidFill>
              </a:rPr>
              <a:t>10%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0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F45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FF450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جمبك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F4500"/>
                </a:solidFill>
              </a:rPr>
              <a:t>🇸🇦  المملكة العربية السعودية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CC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لوقتكم — نتطلع لبناء مستقبل الشحن معاً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60350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88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82549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9980C4"/>
                </a:solidFill>
              </a:rPr>
              <a:t>احجز اجتماعاً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calendly.com/anas-msd-ramsees/30min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47288"/>
            <a:ext cx="60350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472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48386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9980C4"/>
                </a:solidFill>
              </a:rPr>
              <a:t>الموقع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72160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anasmsdramsees-collab.github.io/jambak-ksa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05656"/>
            <a:ext cx="60350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05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14223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9980C4"/>
                </a:solidFill>
              </a:rPr>
              <a:t>البريد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43799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anas_m_ramsees@hotmail.co.uk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691</Words>
  <Application>Microsoft Macintosh PowerPoint</Application>
  <PresentationFormat>On-screen Show (16:9)</PresentationFormat>
  <Paragraphs>231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جمبك KSA — Investor Pitch</dc:title>
  <dc:subject>PptxGenJS Presentation</dc:subject>
  <dc:creator>Anas Ramsees</dc:creator>
  <cp:lastModifiedBy>Anas Ramsees</cp:lastModifiedBy>
  <cp:revision>2</cp:revision>
  <dcterms:created xsi:type="dcterms:W3CDTF">2026-05-13T23:32:06Z</dcterms:created>
  <dcterms:modified xsi:type="dcterms:W3CDTF">2026-05-14T08:11:53Z</dcterms:modified>
</cp:coreProperties>
</file>